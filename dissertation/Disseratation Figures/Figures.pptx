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1" r:id="rId3"/>
    <p:sldId id="256" r:id="rId4"/>
    <p:sldId id="263" r:id="rId5"/>
    <p:sldId id="262" r:id="rId7"/>
    <p:sldId id="260" r:id="rId8"/>
    <p:sldId id="258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7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77A4"/>
    <a:srgbClr val="9168A0"/>
    <a:srgbClr val="3C7F9A"/>
    <a:srgbClr val="4E7F74"/>
    <a:srgbClr val="375E69"/>
    <a:srgbClr val="3C696E"/>
    <a:srgbClr val="2D00CD"/>
    <a:srgbClr val="766193"/>
    <a:srgbClr val="4F7F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020" y="968"/>
      </p:cViewPr>
      <p:guideLst>
        <p:guide orient="horz" pos="2177"/>
        <p:guide pos="37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795020" y="1423670"/>
            <a:ext cx="15005050" cy="4321810"/>
            <a:chOff x="-795020" y="1423670"/>
            <a:chExt cx="15005050" cy="4321810"/>
          </a:xfrm>
        </p:grpSpPr>
        <p:sp>
          <p:nvSpPr>
            <p:cNvPr id="31" name="圆角矩形 30"/>
            <p:cNvSpPr/>
            <p:nvPr/>
          </p:nvSpPr>
          <p:spPr>
            <a:xfrm>
              <a:off x="-795020" y="1425575"/>
              <a:ext cx="2549525" cy="1052195"/>
            </a:xfrm>
            <a:prstGeom prst="roundRect">
              <a:avLst>
                <a:gd name="adj" fmla="val 30197"/>
              </a:avLst>
            </a:prstGeom>
            <a:solidFill>
              <a:srgbClr val="4E77A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Micro Sample Data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Census Statistics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370455" y="1426210"/>
              <a:ext cx="2515235" cy="1052195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Poputation Generation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2370455" y="3243580"/>
              <a:ext cx="2515235" cy="104775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E-commerce Behaviour Modelling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613140" y="2331720"/>
              <a:ext cx="3209925" cy="105283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Order Generation: Monte Carlo Sampling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5441950" y="1423670"/>
              <a:ext cx="2486025" cy="1057910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Population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61" name="肘形连接符 60"/>
            <p:cNvCxnSpPr>
              <a:stCxn id="31" idx="3"/>
              <a:endCxn id="35" idx="1"/>
            </p:cNvCxnSpPr>
            <p:nvPr/>
          </p:nvCxnSpPr>
          <p:spPr>
            <a:xfrm>
              <a:off x="1754505" y="1951990"/>
              <a:ext cx="615950" cy="635"/>
            </a:xfrm>
            <a:prstGeom prst="bentConnector3">
              <a:avLst>
                <a:gd name="adj1" fmla="val 50000"/>
              </a:avLst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肘形连接符 19"/>
            <p:cNvCxnSpPr>
              <a:stCxn id="3" idx="3"/>
              <a:endCxn id="7" idx="1"/>
            </p:cNvCxnSpPr>
            <p:nvPr/>
          </p:nvCxnSpPr>
          <p:spPr>
            <a:xfrm>
              <a:off x="11823065" y="2858135"/>
              <a:ext cx="407035" cy="317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>
              <a:stCxn id="17" idx="3"/>
              <a:endCxn id="3" idx="1"/>
            </p:cNvCxnSpPr>
            <p:nvPr/>
          </p:nvCxnSpPr>
          <p:spPr>
            <a:xfrm>
              <a:off x="7927975" y="1952625"/>
              <a:ext cx="685165" cy="905510"/>
            </a:xfrm>
            <a:prstGeom prst="bentConnector3">
              <a:avLst>
                <a:gd name="adj1" fmla="val 50046"/>
              </a:avLst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stCxn id="35" idx="3"/>
              <a:endCxn id="17" idx="1"/>
            </p:cNvCxnSpPr>
            <p:nvPr/>
          </p:nvCxnSpPr>
          <p:spPr>
            <a:xfrm>
              <a:off x="4885690" y="1952625"/>
              <a:ext cx="556260" cy="317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肘形连接符 26"/>
            <p:cNvCxnSpPr>
              <a:stCxn id="4" idx="3"/>
              <a:endCxn id="2" idx="1"/>
            </p:cNvCxnSpPr>
            <p:nvPr/>
          </p:nvCxnSpPr>
          <p:spPr>
            <a:xfrm flipV="1">
              <a:off x="1754505" y="3767455"/>
              <a:ext cx="615950" cy="1905"/>
            </a:xfrm>
            <a:prstGeom prst="bentConnector3">
              <a:avLst>
                <a:gd name="adj1" fmla="val 50000"/>
              </a:avLst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" name="圆角矩形 3"/>
            <p:cNvSpPr/>
            <p:nvPr/>
          </p:nvSpPr>
          <p:spPr>
            <a:xfrm>
              <a:off x="-795020" y="3242945"/>
              <a:ext cx="2549525" cy="1052195"/>
            </a:xfrm>
            <a:prstGeom prst="roundRect">
              <a:avLst>
                <a:gd name="adj" fmla="val 30197"/>
              </a:avLst>
            </a:prstGeom>
            <a:solidFill>
              <a:srgbClr val="4E77A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Muti-source 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E-commerce Reports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5441950" y="3240405"/>
              <a:ext cx="2486025" cy="1050925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Fuzzy Inference 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Rule Bases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6" name="肘形连接符 5"/>
            <p:cNvCxnSpPr>
              <a:stCxn id="2" idx="3"/>
              <a:endCxn id="5" idx="1"/>
            </p:cNvCxnSpPr>
            <p:nvPr/>
          </p:nvCxnSpPr>
          <p:spPr>
            <a:xfrm flipV="1">
              <a:off x="4885690" y="3766185"/>
              <a:ext cx="556260" cy="1270"/>
            </a:xfrm>
            <a:prstGeom prst="bentConnector3">
              <a:avLst>
                <a:gd name="adj1" fmla="val 50000"/>
              </a:avLst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" name="圆角矩形 6"/>
            <p:cNvSpPr/>
            <p:nvPr/>
          </p:nvSpPr>
          <p:spPr>
            <a:xfrm>
              <a:off x="12230100" y="2331720"/>
              <a:ext cx="1979930" cy="1052195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Order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8" name="肘形连接符 7"/>
            <p:cNvCxnSpPr>
              <a:stCxn id="5" idx="3"/>
              <a:endCxn id="3" idx="1"/>
            </p:cNvCxnSpPr>
            <p:nvPr/>
          </p:nvCxnSpPr>
          <p:spPr>
            <a:xfrm flipV="1">
              <a:off x="7927975" y="2858135"/>
              <a:ext cx="685165" cy="908050"/>
            </a:xfrm>
            <a:prstGeom prst="bentConnector3">
              <a:avLst>
                <a:gd name="adj1" fmla="val 50046"/>
              </a:avLst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0" name="组合 9"/>
            <p:cNvGrpSpPr/>
            <p:nvPr/>
          </p:nvGrpSpPr>
          <p:grpSpPr>
            <a:xfrm>
              <a:off x="848360" y="4749165"/>
              <a:ext cx="7618095" cy="996315"/>
              <a:chOff x="1336" y="7239"/>
              <a:chExt cx="11997" cy="1569"/>
            </a:xfrm>
          </p:grpSpPr>
          <p:sp>
            <p:nvSpPr>
              <p:cNvPr id="26" name="圆角矩形 25"/>
              <p:cNvSpPr/>
              <p:nvPr/>
            </p:nvSpPr>
            <p:spPr>
              <a:xfrm>
                <a:off x="1336" y="7864"/>
                <a:ext cx="3694" cy="944"/>
              </a:xfrm>
              <a:prstGeom prst="roundRect">
                <a:avLst>
                  <a:gd name="adj" fmla="val 30197"/>
                </a:avLst>
              </a:prstGeom>
              <a:solidFill>
                <a:srgbClr val="4E77A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Input: Open-source Data</a:t>
                </a:r>
                <a:endParaRPr lang="en-US" altLang="zh-CN" sz="1600" dirty="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9638" y="7859"/>
                <a:ext cx="3695" cy="944"/>
              </a:xfrm>
              <a:prstGeom prst="roundRect">
                <a:avLst>
                  <a:gd name="adj" fmla="val 30197"/>
                </a:avLst>
              </a:prstGeom>
              <a:solidFill>
                <a:srgbClr val="76619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Module 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Output</a:t>
                </a:r>
                <a:endPara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519" y="7865"/>
                <a:ext cx="3695" cy="943"/>
              </a:xfrm>
              <a:prstGeom prst="rect">
                <a:avLst/>
              </a:prstGeom>
              <a:solidFill>
                <a:srgbClr val="4E7F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Framework Module</a:t>
                </a:r>
                <a:endPara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336" y="7239"/>
                <a:ext cx="300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b="1">
                    <a:latin typeface="Times New Roman" panose="02020603050405020304" charset="0"/>
                    <a:cs typeface="Times New Roman" panose="02020603050405020304" charset="0"/>
                  </a:rPr>
                  <a:t>Components</a:t>
                </a:r>
                <a:endParaRPr lang="en-US" altLang="zh-CN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014730" y="-95250"/>
            <a:ext cx="8996645" cy="6313170"/>
            <a:chOff x="1014730" y="-95250"/>
            <a:chExt cx="8996645" cy="6313170"/>
          </a:xfrm>
        </p:grpSpPr>
        <p:sp>
          <p:nvSpPr>
            <p:cNvPr id="31" name="圆角矩形 30"/>
            <p:cNvSpPr/>
            <p:nvPr/>
          </p:nvSpPr>
          <p:spPr>
            <a:xfrm>
              <a:off x="1014730" y="-86995"/>
              <a:ext cx="2765425" cy="836930"/>
            </a:xfrm>
            <a:prstGeom prst="roundRect">
              <a:avLst>
                <a:gd name="adj" fmla="val 30197"/>
              </a:avLst>
            </a:prstGeom>
            <a:solidFill>
              <a:srgbClr val="4E77A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Micro Sample Data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Census Statistics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113790" y="1099820"/>
              <a:ext cx="2566670" cy="100838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Poputation Generation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939665" y="1099185"/>
              <a:ext cx="2566670" cy="100838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E-commerce Behaviour Modelling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2638425" y="3832860"/>
              <a:ext cx="3227705" cy="109347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Order Generation: Monte Carlo Sampling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014730" y="2541270"/>
              <a:ext cx="2765425" cy="836930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Population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61" name="肘形连接符 60"/>
            <p:cNvCxnSpPr>
              <a:stCxn id="31" idx="2"/>
              <a:endCxn id="35" idx="0"/>
            </p:cNvCxnSpPr>
            <p:nvPr/>
          </p:nvCxnSpPr>
          <p:spPr>
            <a:xfrm rot="5400000">
              <a:off x="2222500" y="924560"/>
              <a:ext cx="349885" cy="635"/>
            </a:xfrm>
            <a:prstGeom prst="bentConnector3">
              <a:avLst>
                <a:gd name="adj1" fmla="val 50091"/>
              </a:avLst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肘形连接符 19"/>
            <p:cNvCxnSpPr>
              <a:stCxn id="3" idx="2"/>
              <a:endCxn id="7" idx="0"/>
            </p:cNvCxnSpPr>
            <p:nvPr/>
          </p:nvCxnSpPr>
          <p:spPr>
            <a:xfrm rot="5400000" flipV="1">
              <a:off x="4025265" y="5153660"/>
              <a:ext cx="454660" cy="317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>
              <a:stCxn id="17" idx="3"/>
              <a:endCxn id="3" idx="0"/>
            </p:cNvCxnSpPr>
            <p:nvPr/>
          </p:nvCxnSpPr>
          <p:spPr>
            <a:xfrm>
              <a:off x="3780155" y="2959735"/>
              <a:ext cx="472440" cy="87312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stCxn id="35" idx="2"/>
              <a:endCxn id="17" idx="0"/>
            </p:cNvCxnSpPr>
            <p:nvPr/>
          </p:nvCxnSpPr>
          <p:spPr>
            <a:xfrm rot="5400000" flipV="1">
              <a:off x="2180908" y="2324418"/>
              <a:ext cx="433070" cy="635"/>
            </a:xfrm>
            <a:prstGeom prst="bentConnector3">
              <a:avLst>
                <a:gd name="adj1" fmla="val 49927"/>
              </a:avLst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圆角矩形 25"/>
            <p:cNvSpPr/>
            <p:nvPr/>
          </p:nvSpPr>
          <p:spPr>
            <a:xfrm>
              <a:off x="8100660" y="444500"/>
              <a:ext cx="1910080" cy="599440"/>
            </a:xfrm>
            <a:prstGeom prst="roundRect">
              <a:avLst>
                <a:gd name="adj" fmla="val 30197"/>
              </a:avLst>
            </a:prstGeom>
            <a:solidFill>
              <a:srgbClr val="4E77A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Input: Open-source Data</a:t>
              </a:r>
              <a:endParaRPr lang="en-US" altLang="zh-CN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27" name="肘形连接符 26"/>
            <p:cNvCxnSpPr>
              <a:stCxn id="4" idx="2"/>
              <a:endCxn id="2" idx="0"/>
            </p:cNvCxnSpPr>
            <p:nvPr/>
          </p:nvCxnSpPr>
          <p:spPr>
            <a:xfrm rot="5400000">
              <a:off x="6044565" y="920115"/>
              <a:ext cx="357505" cy="635"/>
            </a:xfrm>
            <a:prstGeom prst="bentConnector3">
              <a:avLst>
                <a:gd name="adj1" fmla="val 50089"/>
              </a:avLst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" name="圆角矩形 3"/>
            <p:cNvSpPr/>
            <p:nvPr/>
          </p:nvSpPr>
          <p:spPr>
            <a:xfrm>
              <a:off x="4840605" y="-95250"/>
              <a:ext cx="2765425" cy="836930"/>
            </a:xfrm>
            <a:prstGeom prst="roundRect">
              <a:avLst>
                <a:gd name="adj" fmla="val 30197"/>
              </a:avLst>
            </a:prstGeom>
            <a:solidFill>
              <a:srgbClr val="4E77A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Muti-source 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E-commerce Reports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4840605" y="2541270"/>
              <a:ext cx="2765425" cy="836930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Fuzzy Inference 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Rule Bases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6" name="肘形连接符 5"/>
            <p:cNvCxnSpPr>
              <a:stCxn id="2" idx="2"/>
              <a:endCxn id="5" idx="0"/>
            </p:cNvCxnSpPr>
            <p:nvPr/>
          </p:nvCxnSpPr>
          <p:spPr>
            <a:xfrm rot="5400000" flipV="1">
              <a:off x="6006465" y="2324100"/>
              <a:ext cx="433705" cy="635"/>
            </a:xfrm>
            <a:prstGeom prst="bentConnector3">
              <a:avLst>
                <a:gd name="adj1" fmla="val 50073"/>
              </a:avLst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" name="圆角矩形 6"/>
            <p:cNvSpPr/>
            <p:nvPr/>
          </p:nvSpPr>
          <p:spPr>
            <a:xfrm>
              <a:off x="2869565" y="5380990"/>
              <a:ext cx="2765425" cy="836930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Order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8" name="肘形连接符 7"/>
            <p:cNvCxnSpPr>
              <a:stCxn id="5" idx="1"/>
              <a:endCxn id="3" idx="0"/>
            </p:cNvCxnSpPr>
            <p:nvPr/>
          </p:nvCxnSpPr>
          <p:spPr>
            <a:xfrm rot="10800000" flipV="1">
              <a:off x="4252595" y="2959735"/>
              <a:ext cx="588010" cy="87312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圆角矩形 10"/>
            <p:cNvSpPr/>
            <p:nvPr/>
          </p:nvSpPr>
          <p:spPr>
            <a:xfrm>
              <a:off x="8100660" y="2196465"/>
              <a:ext cx="1910080" cy="599440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Module </a:t>
              </a:r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Output</a:t>
              </a:r>
              <a:endPara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100660" y="1319530"/>
              <a:ext cx="1910080" cy="598805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Framework Module</a:t>
              </a:r>
              <a:endPara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101295" y="0"/>
              <a:ext cx="191008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charset="0"/>
                  <a:cs typeface="Times New Roman" panose="02020603050405020304" charset="0"/>
                </a:rPr>
                <a:t>Components</a:t>
              </a:r>
              <a:endParaRPr lang="en-US" altLang="zh-CN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83820" y="-612775"/>
            <a:ext cx="12872720" cy="8138160"/>
            <a:chOff x="-732" y="354"/>
            <a:chExt cx="20272" cy="12816"/>
          </a:xfrm>
        </p:grpSpPr>
        <p:sp>
          <p:nvSpPr>
            <p:cNvPr id="47" name="文本框 46"/>
            <p:cNvSpPr txBox="1"/>
            <p:nvPr/>
          </p:nvSpPr>
          <p:spPr>
            <a:xfrm>
              <a:off x="5211" y="9366"/>
              <a:ext cx="8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1086" y="3193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Frequency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1086" y="5180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Category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221" y="3251"/>
              <a:ext cx="2854" cy="12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Fuzzification &amp; Aggregation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409" y="354"/>
              <a:ext cx="9692" cy="7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Behaviour Modelling: Fuzzy Inference System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409" y="7019"/>
              <a:ext cx="10947" cy="8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Demand Generation: Monte Carlo (MC) Sampling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4542" y="2078"/>
              <a:ext cx="2579" cy="3459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Demographic Features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187325" algn="l" defTabSz="914400">
                <a:buFont typeface="Arial" panose="020B0604020202020204" pitchFamily="34" charset="0"/>
                <a:buChar char="•"/>
                <a:tabLst>
                  <a:tab pos="268605" algn="l"/>
                </a:tabLst>
              </a:pPr>
              <a:r>
                <a:rPr lang="en-US" altLang="zh-CN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Age</a:t>
              </a:r>
              <a:endPara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187325" algn="l" defTabSz="914400">
                <a:buFont typeface="Arial" panose="020B0604020202020204" pitchFamily="34" charset="0"/>
                <a:buChar char="•"/>
                <a:tabLst>
                  <a:tab pos="268605" algn="l"/>
                </a:tabLst>
              </a:pPr>
              <a:r>
                <a:rPr lang="en-US" altLang="zh-CN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Sex</a:t>
              </a:r>
              <a:endPara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187325" algn="l" defTabSz="914400">
                <a:buFont typeface="Arial" panose="020B0604020202020204" pitchFamily="34" charset="0"/>
                <a:buChar char="•"/>
                <a:tabLst>
                  <a:tab pos="268605" algn="l"/>
                </a:tabLst>
              </a:pPr>
              <a:r>
                <a:rPr lang="en-US" altLang="zh-CN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Marital Status</a:t>
              </a:r>
              <a:endPara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187325" algn="l" defTabSz="914400">
                <a:buFont typeface="Arial" panose="020B0604020202020204" pitchFamily="34" charset="0"/>
                <a:buChar char="•"/>
                <a:tabLst>
                  <a:tab pos="268605" algn="l"/>
                </a:tabLst>
              </a:pPr>
              <a:r>
                <a:rPr lang="en-US" altLang="zh-CN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-475" y="7974"/>
              <a:ext cx="3860" cy="1318"/>
            </a:xfrm>
            <a:prstGeom prst="roundRect">
              <a:avLst>
                <a:gd name="adj" fmla="val 30197"/>
              </a:avLst>
            </a:prstGeom>
            <a:solidFill>
              <a:srgbClr val="4E77A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Population Instance 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-461" y="3095"/>
              <a:ext cx="3845" cy="1318"/>
            </a:xfrm>
            <a:prstGeom prst="roundRect">
              <a:avLst>
                <a:gd name="adj" fmla="val 30197"/>
              </a:avLst>
            </a:prstGeom>
            <a:solidFill>
              <a:srgbClr val="4E77A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Multi-Source E-commerce Reports 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4776" y="10006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Non-online Customer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8983" y="8021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Frequency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2188" y="8021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Category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0" name="肘形连接符 39"/>
            <p:cNvCxnSpPr>
              <a:stCxn id="45" idx="3"/>
              <a:endCxn id="35" idx="1"/>
            </p:cNvCxnSpPr>
            <p:nvPr/>
          </p:nvCxnSpPr>
          <p:spPr>
            <a:xfrm>
              <a:off x="7786" y="8630"/>
              <a:ext cx="1197" cy="1"/>
            </a:xfrm>
            <a:prstGeom prst="bentConnector3">
              <a:avLst>
                <a:gd name="adj1" fmla="val 50042"/>
              </a:avLst>
            </a:prstGeom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肘形连接符 40"/>
            <p:cNvCxnSpPr>
              <a:stCxn id="35" idx="3"/>
              <a:endCxn id="36" idx="1"/>
            </p:cNvCxnSpPr>
            <p:nvPr/>
          </p:nvCxnSpPr>
          <p:spPr>
            <a:xfrm>
              <a:off x="11328" y="8631"/>
              <a:ext cx="860" cy="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15943" y="9340"/>
              <a:ext cx="2615" cy="1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285750" indent="-2857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Category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Value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Weight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Size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5" name="菱形 44"/>
            <p:cNvSpPr/>
            <p:nvPr/>
          </p:nvSpPr>
          <p:spPr>
            <a:xfrm>
              <a:off x="4112" y="7922"/>
              <a:ext cx="3674" cy="1415"/>
            </a:xfrm>
            <a:prstGeom prst="diamond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Available?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46" name="肘形连接符 45"/>
            <p:cNvCxnSpPr>
              <a:stCxn id="45" idx="2"/>
              <a:endCxn id="34" idx="0"/>
            </p:cNvCxnSpPr>
            <p:nvPr/>
          </p:nvCxnSpPr>
          <p:spPr>
            <a:xfrm rot="5400000" flipV="1">
              <a:off x="5615" y="9672"/>
              <a:ext cx="669" cy="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8006" y="8058"/>
              <a:ext cx="10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1086" y="1209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Availability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51" name="肘形连接符 50"/>
            <p:cNvCxnSpPr>
              <a:endCxn id="49" idx="1"/>
            </p:cNvCxnSpPr>
            <p:nvPr/>
          </p:nvCxnSpPr>
          <p:spPr>
            <a:xfrm flipV="1">
              <a:off x="7331" y="1819"/>
              <a:ext cx="3755" cy="1989"/>
            </a:xfrm>
            <a:prstGeom prst="bentConnector3">
              <a:avLst>
                <a:gd name="adj1" fmla="val 77043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22" idx="3"/>
              <a:endCxn id="11" idx="1"/>
            </p:cNvCxnSpPr>
            <p:nvPr/>
          </p:nvCxnSpPr>
          <p:spPr>
            <a:xfrm flipV="1">
              <a:off x="7121" y="3803"/>
              <a:ext cx="3965" cy="5"/>
            </a:xfrm>
            <a:prstGeom prst="bentConnector3">
              <a:avLst>
                <a:gd name="adj1" fmla="val 50013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肘形连接符 52"/>
            <p:cNvCxnSpPr>
              <a:stCxn id="22" idx="3"/>
              <a:endCxn id="12" idx="1"/>
            </p:cNvCxnSpPr>
            <p:nvPr/>
          </p:nvCxnSpPr>
          <p:spPr>
            <a:xfrm>
              <a:off x="7121" y="3808"/>
              <a:ext cx="3965" cy="1982"/>
            </a:xfrm>
            <a:prstGeom prst="bentConnector3">
              <a:avLst>
                <a:gd name="adj1" fmla="val 78284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5" name="圆角矩形 54"/>
            <p:cNvSpPr/>
            <p:nvPr/>
          </p:nvSpPr>
          <p:spPr>
            <a:xfrm>
              <a:off x="15355" y="1111"/>
              <a:ext cx="3685" cy="1318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FIS Rule Base for Availability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15355" y="3095"/>
              <a:ext cx="3685" cy="1318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FIS Rule Base for Frequency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15355" y="5082"/>
              <a:ext cx="3685" cy="1318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FIS Rule Base for Order Category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59" name="右箭头 58"/>
            <p:cNvSpPr/>
            <p:nvPr/>
          </p:nvSpPr>
          <p:spPr>
            <a:xfrm>
              <a:off x="3517" y="3346"/>
              <a:ext cx="892" cy="706"/>
            </a:xfrm>
            <a:prstGeom prst="rightArrow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0" name="右箭头 59"/>
            <p:cNvSpPr/>
            <p:nvPr/>
          </p:nvSpPr>
          <p:spPr>
            <a:xfrm>
              <a:off x="13977" y="3370"/>
              <a:ext cx="892" cy="706"/>
            </a:xfrm>
            <a:prstGeom prst="rightArrow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61" name="肘形连接符 60"/>
            <p:cNvCxnSpPr>
              <a:stCxn id="26" idx="3"/>
              <a:endCxn id="45" idx="1"/>
            </p:cNvCxnSpPr>
            <p:nvPr/>
          </p:nvCxnSpPr>
          <p:spPr>
            <a:xfrm flipV="1">
              <a:off x="3385" y="8630"/>
              <a:ext cx="727" cy="3"/>
            </a:xfrm>
            <a:prstGeom prst="bentConnector3">
              <a:avLst>
                <a:gd name="adj1" fmla="val 50069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2" name="圆角矩形 61"/>
            <p:cNvSpPr/>
            <p:nvPr/>
          </p:nvSpPr>
          <p:spPr>
            <a:xfrm>
              <a:off x="15355" y="7974"/>
              <a:ext cx="3685" cy="1318"/>
            </a:xfrm>
            <a:prstGeom prst="roundRect">
              <a:avLst>
                <a:gd name="adj" fmla="val 30197"/>
              </a:avLst>
            </a:prstGeom>
            <a:solidFill>
              <a:srgbClr val="7661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Order Instance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63" name="肘形连接符 62"/>
            <p:cNvCxnSpPr>
              <a:stCxn id="36" idx="3"/>
              <a:endCxn id="62" idx="1"/>
            </p:cNvCxnSpPr>
            <p:nvPr/>
          </p:nvCxnSpPr>
          <p:spPr>
            <a:xfrm>
              <a:off x="14533" y="8631"/>
              <a:ext cx="822" cy="2"/>
            </a:xfrm>
            <a:prstGeom prst="bentConnector3">
              <a:avLst>
                <a:gd name="adj1" fmla="val 50000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文本框 63"/>
            <p:cNvSpPr txBox="1"/>
            <p:nvPr/>
          </p:nvSpPr>
          <p:spPr>
            <a:xfrm>
              <a:off x="6339" y="9102"/>
              <a:ext cx="241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Bernoulli MC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8996" y="9239"/>
              <a:ext cx="2414" cy="4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Poisson MC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1805" y="9256"/>
              <a:ext cx="3648" cy="4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Discrete Random MC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-732" y="6805"/>
              <a:ext cx="20272" cy="0"/>
            </a:xfrm>
            <a:prstGeom prst="line">
              <a:avLst/>
            </a:prstGeom>
            <a:ln w="31750" cmpd="sng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0" name="组合 9"/>
            <p:cNvGrpSpPr/>
            <p:nvPr/>
          </p:nvGrpSpPr>
          <p:grpSpPr>
            <a:xfrm>
              <a:off x="-379" y="11602"/>
              <a:ext cx="9980" cy="1569"/>
              <a:chOff x="1336" y="7239"/>
              <a:chExt cx="11997" cy="1569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1336" y="7864"/>
                <a:ext cx="3694" cy="944"/>
              </a:xfrm>
              <a:prstGeom prst="roundRect">
                <a:avLst>
                  <a:gd name="adj" fmla="val 30197"/>
                </a:avLst>
              </a:prstGeom>
              <a:solidFill>
                <a:srgbClr val="4E77A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Input Data</a:t>
                </a:r>
                <a:endPara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3" name="圆角矩形 2"/>
              <p:cNvSpPr/>
              <p:nvPr/>
            </p:nvSpPr>
            <p:spPr>
              <a:xfrm>
                <a:off x="9638" y="7859"/>
                <a:ext cx="3695" cy="944"/>
              </a:xfrm>
              <a:prstGeom prst="roundRect">
                <a:avLst>
                  <a:gd name="adj" fmla="val 30197"/>
                </a:avLst>
              </a:prstGeom>
              <a:solidFill>
                <a:srgbClr val="76619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Process Output</a:t>
                </a:r>
                <a:endPara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519" y="7865"/>
                <a:ext cx="3695" cy="943"/>
              </a:xfrm>
              <a:prstGeom prst="rect">
                <a:avLst/>
              </a:prstGeom>
              <a:solidFill>
                <a:srgbClr val="4E7F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Functional Process </a:t>
                </a:r>
                <a:endPara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336" y="7239"/>
                <a:ext cx="300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b="1">
                    <a:latin typeface="Times New Roman" panose="02020603050405020304" charset="0"/>
                    <a:cs typeface="Times New Roman" panose="02020603050405020304" charset="0"/>
                  </a:rPr>
                  <a:t>Components</a:t>
                </a:r>
                <a:endParaRPr lang="en-US" altLang="zh-CN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368300" y="1826895"/>
            <a:ext cx="12951460" cy="4146550"/>
            <a:chOff x="-580" y="2877"/>
            <a:chExt cx="20396" cy="6530"/>
          </a:xfrm>
        </p:grpSpPr>
        <p:grpSp>
          <p:nvGrpSpPr>
            <p:cNvPr id="28" name="组合 27"/>
            <p:cNvGrpSpPr/>
            <p:nvPr/>
          </p:nvGrpSpPr>
          <p:grpSpPr>
            <a:xfrm>
              <a:off x="-580" y="2877"/>
              <a:ext cx="20396" cy="4515"/>
              <a:chOff x="-580" y="2877"/>
              <a:chExt cx="20396" cy="4515"/>
            </a:xfrm>
          </p:grpSpPr>
          <p:sp>
            <p:nvSpPr>
              <p:cNvPr id="31" name="圆角矩形 30"/>
              <p:cNvSpPr/>
              <p:nvPr/>
            </p:nvSpPr>
            <p:spPr>
              <a:xfrm>
                <a:off x="-580" y="2877"/>
                <a:ext cx="4355" cy="1318"/>
              </a:xfrm>
              <a:prstGeom prst="roundRect">
                <a:avLst>
                  <a:gd name="adj" fmla="val 30197"/>
                </a:avLst>
              </a:prstGeom>
              <a:solidFill>
                <a:srgbClr val="4E77A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Data Inputs:</a:t>
                </a:r>
                <a:endParaRPr lang="en-US" altLang="zh-CN" sz="20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Micro Sample Data</a:t>
                </a:r>
                <a:endPara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-424" y="5136"/>
                <a:ext cx="4042" cy="1588"/>
              </a:xfrm>
              <a:prstGeom prst="rect">
                <a:avLst/>
              </a:prstGeom>
              <a:solidFill>
                <a:srgbClr val="4E7F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Initialize Weights based on Microdata</a:t>
                </a:r>
                <a:endPara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" name="矩形 1"/>
              <p:cNvSpPr/>
              <p:nvPr/>
            </p:nvSpPr>
            <p:spPr>
              <a:xfrm>
                <a:off x="4848" y="5136"/>
                <a:ext cx="4042" cy="1588"/>
              </a:xfrm>
              <a:prstGeom prst="rect">
                <a:avLst/>
              </a:prstGeom>
              <a:solidFill>
                <a:srgbClr val="4E7F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Adjust Weights for Each Feature</a:t>
                </a:r>
                <a:endPara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" name="矩形 2"/>
              <p:cNvSpPr/>
              <p:nvPr/>
            </p:nvSpPr>
            <p:spPr>
              <a:xfrm>
                <a:off x="10120" y="5135"/>
                <a:ext cx="4042" cy="1589"/>
              </a:xfrm>
              <a:prstGeom prst="rect">
                <a:avLst/>
              </a:prstGeom>
              <a:solidFill>
                <a:srgbClr val="4E7F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Check Convergence, Marginals with Constraints</a:t>
                </a:r>
                <a:endPara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" name="菱形 44"/>
              <p:cNvSpPr/>
              <p:nvPr/>
            </p:nvSpPr>
            <p:spPr>
              <a:xfrm>
                <a:off x="15392" y="5126"/>
                <a:ext cx="4425" cy="1598"/>
              </a:xfrm>
              <a:prstGeom prst="diamond">
                <a:avLst/>
              </a:prstGeom>
              <a:solidFill>
                <a:srgbClr val="4E7F7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If meet the Threshold</a:t>
                </a:r>
                <a:r>
                  <a:rPr lang="en-US" altLang="zh-CN" sz="200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?</a:t>
                </a:r>
                <a:endPara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15423" y="2890"/>
                <a:ext cx="4355" cy="1318"/>
              </a:xfrm>
              <a:prstGeom prst="roundRect">
                <a:avLst>
                  <a:gd name="adj" fmla="val 30197"/>
                </a:avLst>
              </a:prstGeom>
              <a:solidFill>
                <a:srgbClr val="76619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Data Output:</a:t>
                </a:r>
                <a:endParaRPr lang="en-US" altLang="zh-CN" sz="20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Synthetic Population</a:t>
                </a:r>
                <a:endPara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cxnSp>
            <p:nvCxnSpPr>
              <p:cNvPr id="61" name="肘形连接符 60"/>
              <p:cNvCxnSpPr>
                <a:stCxn id="31" idx="2"/>
                <a:endCxn id="35" idx="0"/>
              </p:cNvCxnSpPr>
              <p:nvPr/>
            </p:nvCxnSpPr>
            <p:spPr>
              <a:xfrm rot="5400000">
                <a:off x="1127" y="4665"/>
                <a:ext cx="941" cy="1"/>
              </a:xfrm>
              <a:prstGeom prst="bentConnector3">
                <a:avLst>
                  <a:gd name="adj1" fmla="val 50053"/>
                </a:avLst>
              </a:prstGeom>
              <a:solidFill>
                <a:srgbClr val="4E7F74"/>
              </a:solidFill>
              <a:ln w="34925">
                <a:solidFill>
                  <a:srgbClr val="375E69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肘形连接符 19"/>
              <p:cNvCxnSpPr>
                <a:stCxn id="35" idx="3"/>
                <a:endCxn id="2" idx="1"/>
              </p:cNvCxnSpPr>
              <p:nvPr/>
            </p:nvCxnSpPr>
            <p:spPr>
              <a:xfrm>
                <a:off x="3618" y="5930"/>
                <a:ext cx="1230" cy="5"/>
              </a:xfrm>
              <a:prstGeom prst="bentConnector2">
                <a:avLst/>
              </a:prstGeom>
              <a:solidFill>
                <a:srgbClr val="4E7F74"/>
              </a:solidFill>
              <a:ln w="34925">
                <a:solidFill>
                  <a:srgbClr val="375E69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肘形连接符 20"/>
              <p:cNvCxnSpPr>
                <a:stCxn id="2" idx="3"/>
                <a:endCxn id="3" idx="1"/>
              </p:cNvCxnSpPr>
              <p:nvPr/>
            </p:nvCxnSpPr>
            <p:spPr>
              <a:xfrm>
                <a:off x="8890" y="5930"/>
                <a:ext cx="1230" cy="5"/>
              </a:xfrm>
              <a:prstGeom prst="bentConnector2">
                <a:avLst/>
              </a:prstGeom>
              <a:solidFill>
                <a:srgbClr val="4E7F74"/>
              </a:solidFill>
              <a:ln w="34925">
                <a:solidFill>
                  <a:srgbClr val="375E69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肘形连接符 21"/>
              <p:cNvCxnSpPr>
                <a:stCxn id="3" idx="3"/>
                <a:endCxn id="45" idx="1"/>
              </p:cNvCxnSpPr>
              <p:nvPr/>
            </p:nvCxnSpPr>
            <p:spPr>
              <a:xfrm flipV="1">
                <a:off x="14162" y="5925"/>
                <a:ext cx="1230" cy="5"/>
              </a:xfrm>
              <a:prstGeom prst="bentConnector3">
                <a:avLst>
                  <a:gd name="adj1" fmla="val 50000"/>
                </a:avLst>
              </a:prstGeom>
              <a:solidFill>
                <a:srgbClr val="4E7F74"/>
              </a:solidFill>
              <a:ln w="34925">
                <a:solidFill>
                  <a:srgbClr val="375E69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肘形连接符 22"/>
              <p:cNvCxnSpPr/>
              <p:nvPr/>
            </p:nvCxnSpPr>
            <p:spPr>
              <a:xfrm rot="5400000">
                <a:off x="12237" y="1358"/>
                <a:ext cx="5" cy="10736"/>
              </a:xfrm>
              <a:prstGeom prst="bentConnector3">
                <a:avLst>
                  <a:gd name="adj1" fmla="val 12370000"/>
                </a:avLst>
              </a:prstGeom>
              <a:solidFill>
                <a:srgbClr val="4E7F74"/>
              </a:solidFill>
              <a:ln w="34925">
                <a:solidFill>
                  <a:srgbClr val="375E69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肘形连接符 23"/>
              <p:cNvCxnSpPr>
                <a:stCxn id="45" idx="0"/>
                <a:endCxn id="17" idx="2"/>
              </p:cNvCxnSpPr>
              <p:nvPr/>
            </p:nvCxnSpPr>
            <p:spPr>
              <a:xfrm rot="16200000" flipV="1">
                <a:off x="17144" y="4665"/>
                <a:ext cx="918" cy="4"/>
              </a:xfrm>
              <a:prstGeom prst="bentConnector3">
                <a:avLst>
                  <a:gd name="adj1" fmla="val 50000"/>
                </a:avLst>
              </a:prstGeom>
              <a:solidFill>
                <a:srgbClr val="4E7F74"/>
              </a:solidFill>
              <a:ln w="34925">
                <a:solidFill>
                  <a:srgbClr val="375E69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7" name="文本框 46"/>
              <p:cNvSpPr txBox="1"/>
              <p:nvPr/>
            </p:nvSpPr>
            <p:spPr>
              <a:xfrm>
                <a:off x="11917" y="6812"/>
                <a:ext cx="81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6795" y="4520"/>
                <a:ext cx="110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6" name="圆角矩形 25"/>
              <p:cNvSpPr/>
              <p:nvPr/>
            </p:nvSpPr>
            <p:spPr>
              <a:xfrm>
                <a:off x="9963" y="2877"/>
                <a:ext cx="4355" cy="1318"/>
              </a:xfrm>
              <a:prstGeom prst="roundRect">
                <a:avLst>
                  <a:gd name="adj" fmla="val 30197"/>
                </a:avLst>
              </a:prstGeom>
              <a:solidFill>
                <a:srgbClr val="4E77A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Data Inputs:</a:t>
                </a:r>
                <a:endParaRPr lang="en-US" altLang="zh-CN" sz="20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2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Census Statistics</a:t>
                </a:r>
                <a:endPara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cxnSp>
            <p:nvCxnSpPr>
              <p:cNvPr id="27" name="肘形连接符 26"/>
              <p:cNvCxnSpPr>
                <a:stCxn id="26" idx="2"/>
                <a:endCxn id="3" idx="0"/>
              </p:cNvCxnSpPr>
              <p:nvPr/>
            </p:nvCxnSpPr>
            <p:spPr>
              <a:xfrm rot="5400000" flipV="1">
                <a:off x="11671" y="4665"/>
                <a:ext cx="940" cy="5"/>
              </a:xfrm>
              <a:prstGeom prst="bentConnector2">
                <a:avLst/>
              </a:prstGeom>
              <a:solidFill>
                <a:srgbClr val="4E7F74"/>
              </a:solidFill>
              <a:ln w="34925">
                <a:solidFill>
                  <a:srgbClr val="375E69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/>
            <p:cNvGrpSpPr/>
            <p:nvPr/>
          </p:nvGrpSpPr>
          <p:grpSpPr>
            <a:xfrm>
              <a:off x="-424" y="7839"/>
              <a:ext cx="11997" cy="1569"/>
              <a:chOff x="1336" y="7239"/>
              <a:chExt cx="11997" cy="1569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1336" y="7864"/>
                <a:ext cx="3694" cy="944"/>
              </a:xfrm>
              <a:prstGeom prst="roundRect">
                <a:avLst>
                  <a:gd name="adj" fmla="val 30197"/>
                </a:avLst>
              </a:prstGeom>
              <a:solidFill>
                <a:srgbClr val="4E77A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Input Data</a:t>
                </a:r>
                <a:endPara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9638" y="7859"/>
                <a:ext cx="3695" cy="944"/>
              </a:xfrm>
              <a:prstGeom prst="roundRect">
                <a:avLst>
                  <a:gd name="adj" fmla="val 30197"/>
                </a:avLst>
              </a:prstGeom>
              <a:solidFill>
                <a:srgbClr val="76619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Process Output</a:t>
                </a:r>
                <a:endPara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519" y="7865"/>
                <a:ext cx="3695" cy="943"/>
              </a:xfrm>
              <a:prstGeom prst="rect">
                <a:avLst/>
              </a:prstGeom>
              <a:solidFill>
                <a:srgbClr val="4E7F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Functional Process </a:t>
                </a:r>
                <a:endParaRPr lang="en-US" altLang="zh-CN" sz="16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336" y="7239"/>
                <a:ext cx="300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b="1">
                    <a:latin typeface="Times New Roman" panose="02020603050405020304" charset="0"/>
                    <a:cs typeface="Times New Roman" panose="02020603050405020304" charset="0"/>
                  </a:rPr>
                  <a:t>Components</a:t>
                </a:r>
                <a:endParaRPr lang="en-US" altLang="zh-CN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-368300" y="1826895"/>
            <a:ext cx="12951460" cy="2867025"/>
            <a:chOff x="-580" y="2877"/>
            <a:chExt cx="20396" cy="4515"/>
          </a:xfrm>
        </p:grpSpPr>
        <p:sp>
          <p:nvSpPr>
            <p:cNvPr id="31" name="圆角矩形 30"/>
            <p:cNvSpPr/>
            <p:nvPr/>
          </p:nvSpPr>
          <p:spPr>
            <a:xfrm>
              <a:off x="-580" y="2877"/>
              <a:ext cx="4355" cy="1318"/>
            </a:xfrm>
            <a:prstGeom prst="roundRect">
              <a:avLst>
                <a:gd name="adj" fmla="val 30197"/>
              </a:avLst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Data Inputs: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Micro Sample Data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-424" y="5136"/>
              <a:ext cx="4042" cy="1588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Initialize Weights based on Microdata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848" y="5136"/>
              <a:ext cx="4042" cy="1588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Adjust Weights for Each Feature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0120" y="5135"/>
              <a:ext cx="4042" cy="1589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Check Convergence, Marginals with Constraints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5" name="菱形 44"/>
            <p:cNvSpPr/>
            <p:nvPr/>
          </p:nvSpPr>
          <p:spPr>
            <a:xfrm>
              <a:off x="15392" y="5126"/>
              <a:ext cx="4425" cy="1598"/>
            </a:xfrm>
            <a:prstGeom prst="diamond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If meet the Threshold</a:t>
              </a:r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?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5423" y="2890"/>
              <a:ext cx="4355" cy="1318"/>
            </a:xfrm>
            <a:prstGeom prst="roundRect">
              <a:avLst>
                <a:gd name="adj" fmla="val 30197"/>
              </a:avLst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Data Output: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Population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61" name="肘形连接符 60"/>
            <p:cNvCxnSpPr>
              <a:stCxn id="31" idx="2"/>
              <a:endCxn id="35" idx="0"/>
            </p:cNvCxnSpPr>
            <p:nvPr/>
          </p:nvCxnSpPr>
          <p:spPr>
            <a:xfrm rot="5400000">
              <a:off x="1127" y="4665"/>
              <a:ext cx="941" cy="1"/>
            </a:xfrm>
            <a:prstGeom prst="bentConnector3">
              <a:avLst>
                <a:gd name="adj1" fmla="val 50053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肘形连接符 19"/>
            <p:cNvCxnSpPr>
              <a:stCxn id="35" idx="3"/>
              <a:endCxn id="2" idx="1"/>
            </p:cNvCxnSpPr>
            <p:nvPr/>
          </p:nvCxnSpPr>
          <p:spPr>
            <a:xfrm>
              <a:off x="3618" y="5930"/>
              <a:ext cx="1230" cy="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>
              <a:stCxn id="2" idx="3"/>
              <a:endCxn id="3" idx="1"/>
            </p:cNvCxnSpPr>
            <p:nvPr/>
          </p:nvCxnSpPr>
          <p:spPr>
            <a:xfrm>
              <a:off x="8890" y="5930"/>
              <a:ext cx="1230" cy="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stCxn id="3" idx="3"/>
              <a:endCxn id="45" idx="1"/>
            </p:cNvCxnSpPr>
            <p:nvPr/>
          </p:nvCxnSpPr>
          <p:spPr>
            <a:xfrm flipV="1">
              <a:off x="14162" y="5925"/>
              <a:ext cx="1230" cy="5"/>
            </a:xfrm>
            <a:prstGeom prst="bentConnector3">
              <a:avLst>
                <a:gd name="adj1" fmla="val 50000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/>
            <p:nvPr/>
          </p:nvCxnSpPr>
          <p:spPr>
            <a:xfrm rot="5400000">
              <a:off x="12237" y="1358"/>
              <a:ext cx="5" cy="10736"/>
            </a:xfrm>
            <a:prstGeom prst="bentConnector3">
              <a:avLst>
                <a:gd name="adj1" fmla="val 12370000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stCxn id="45" idx="0"/>
              <a:endCxn id="17" idx="2"/>
            </p:cNvCxnSpPr>
            <p:nvPr/>
          </p:nvCxnSpPr>
          <p:spPr>
            <a:xfrm rot="16200000" flipV="1">
              <a:off x="17144" y="4665"/>
              <a:ext cx="918" cy="4"/>
            </a:xfrm>
            <a:prstGeom prst="bentConnector3">
              <a:avLst>
                <a:gd name="adj1" fmla="val 50000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7" name="文本框 46"/>
            <p:cNvSpPr txBox="1"/>
            <p:nvPr/>
          </p:nvSpPr>
          <p:spPr>
            <a:xfrm>
              <a:off x="11917" y="6812"/>
              <a:ext cx="8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6795" y="4520"/>
              <a:ext cx="11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9963" y="2877"/>
              <a:ext cx="4355" cy="1318"/>
            </a:xfrm>
            <a:prstGeom prst="roundRect">
              <a:avLst>
                <a:gd name="adj" fmla="val 30197"/>
              </a:avLst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Data Inputs: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Census Statistics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27" name="肘形连接符 26"/>
            <p:cNvCxnSpPr>
              <a:stCxn id="26" idx="2"/>
              <a:endCxn id="3" idx="0"/>
            </p:cNvCxnSpPr>
            <p:nvPr/>
          </p:nvCxnSpPr>
          <p:spPr>
            <a:xfrm rot="5400000" flipV="1">
              <a:off x="11671" y="4665"/>
              <a:ext cx="940" cy="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464820" y="224790"/>
            <a:ext cx="12872720" cy="6942455"/>
            <a:chOff x="-1211" y="1627"/>
            <a:chExt cx="20272" cy="10933"/>
          </a:xfrm>
        </p:grpSpPr>
        <p:sp>
          <p:nvSpPr>
            <p:cNvPr id="47" name="文本框 46"/>
            <p:cNvSpPr txBox="1"/>
            <p:nvPr/>
          </p:nvSpPr>
          <p:spPr>
            <a:xfrm>
              <a:off x="4732" y="10699"/>
              <a:ext cx="8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No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0607" y="4466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Frequency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607" y="6453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Category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742" y="4524"/>
              <a:ext cx="2854" cy="12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Fuzzification &amp; Aggregation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930" y="1627"/>
              <a:ext cx="9692" cy="7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Behaviour Modelling: Fuzzy Inference System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930" y="8352"/>
              <a:ext cx="10947" cy="8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Scenario Generation: Monte Carlo (MC) Sampling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4063" y="3351"/>
              <a:ext cx="2579" cy="3459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Demographic Features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187325" algn="l" defTabSz="914400">
                <a:buFont typeface="Arial" panose="020B0604020202020204" pitchFamily="34" charset="0"/>
                <a:buChar char="•"/>
                <a:tabLst>
                  <a:tab pos="268605" algn="l"/>
                </a:tabLst>
              </a:pPr>
              <a:r>
                <a:rPr lang="en-US" altLang="zh-CN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Age</a:t>
              </a:r>
              <a:endPara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187325" algn="l" defTabSz="914400">
                <a:buFont typeface="Arial" panose="020B0604020202020204" pitchFamily="34" charset="0"/>
                <a:buChar char="•"/>
                <a:tabLst>
                  <a:tab pos="268605" algn="l"/>
                </a:tabLst>
              </a:pPr>
              <a:r>
                <a:rPr lang="en-US" altLang="zh-CN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Sex</a:t>
              </a:r>
              <a:endPara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187325" algn="l" defTabSz="914400">
                <a:buFont typeface="Arial" panose="020B0604020202020204" pitchFamily="34" charset="0"/>
                <a:buChar char="•"/>
                <a:tabLst>
                  <a:tab pos="268605" algn="l"/>
                </a:tabLst>
              </a:pPr>
              <a:r>
                <a:rPr lang="en-US" altLang="zh-CN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Marital Status</a:t>
              </a:r>
              <a:endPara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187325" algn="l" defTabSz="914400">
                <a:buFont typeface="Arial" panose="020B0604020202020204" pitchFamily="34" charset="0"/>
                <a:buChar char="•"/>
                <a:tabLst>
                  <a:tab pos="268605" algn="l"/>
                </a:tabLst>
              </a:pPr>
              <a:r>
                <a:rPr lang="en-US" altLang="zh-CN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en-US" altLang="zh-CN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-954" y="9307"/>
              <a:ext cx="3860" cy="1318"/>
            </a:xfrm>
            <a:prstGeom prst="roundRect">
              <a:avLst>
                <a:gd name="adj" fmla="val 30197"/>
              </a:avLst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Population Instance 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-940" y="4368"/>
              <a:ext cx="3845" cy="1318"/>
            </a:xfrm>
            <a:prstGeom prst="roundRect">
              <a:avLst>
                <a:gd name="adj" fmla="val 30197"/>
              </a:avLst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Multi-Source E-commerce Reports 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4297" y="11339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Non-online Customer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8504" y="9354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Frequency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1709" y="9354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Category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0" name="肘形连接符 39"/>
            <p:cNvCxnSpPr>
              <a:stCxn id="45" idx="3"/>
              <a:endCxn id="35" idx="1"/>
            </p:cNvCxnSpPr>
            <p:nvPr/>
          </p:nvCxnSpPr>
          <p:spPr>
            <a:xfrm>
              <a:off x="7307" y="9963"/>
              <a:ext cx="1197" cy="1"/>
            </a:xfrm>
            <a:prstGeom prst="bentConnector3">
              <a:avLst>
                <a:gd name="adj1" fmla="val 50042"/>
              </a:avLst>
            </a:prstGeom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肘形连接符 40"/>
            <p:cNvCxnSpPr>
              <a:stCxn id="35" idx="3"/>
              <a:endCxn id="36" idx="1"/>
            </p:cNvCxnSpPr>
            <p:nvPr/>
          </p:nvCxnSpPr>
          <p:spPr>
            <a:xfrm>
              <a:off x="10849" y="9964"/>
              <a:ext cx="860" cy="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15464" y="10673"/>
              <a:ext cx="2615" cy="1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285750" indent="-2857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Category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Value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Weight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Size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5" name="菱形 44"/>
            <p:cNvSpPr/>
            <p:nvPr/>
          </p:nvSpPr>
          <p:spPr>
            <a:xfrm>
              <a:off x="3633" y="9255"/>
              <a:ext cx="3674" cy="1415"/>
            </a:xfrm>
            <a:prstGeom prst="diamond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Available?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46" name="肘形连接符 45"/>
            <p:cNvCxnSpPr>
              <a:stCxn id="45" idx="2"/>
              <a:endCxn id="34" idx="0"/>
            </p:cNvCxnSpPr>
            <p:nvPr/>
          </p:nvCxnSpPr>
          <p:spPr>
            <a:xfrm rot="5400000" flipV="1">
              <a:off x="5136" y="11005"/>
              <a:ext cx="669" cy="5"/>
            </a:xfrm>
            <a:prstGeom prst="bentConnector2">
              <a:avLst/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7527" y="9391"/>
              <a:ext cx="10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Yes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607" y="2482"/>
              <a:ext cx="2345" cy="1220"/>
            </a:xfrm>
            <a:prstGeom prst="rect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Availability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51" name="肘形连接符 50"/>
            <p:cNvCxnSpPr>
              <a:endCxn id="49" idx="1"/>
            </p:cNvCxnSpPr>
            <p:nvPr/>
          </p:nvCxnSpPr>
          <p:spPr>
            <a:xfrm flipV="1">
              <a:off x="6852" y="3092"/>
              <a:ext cx="3755" cy="1989"/>
            </a:xfrm>
            <a:prstGeom prst="bentConnector3">
              <a:avLst>
                <a:gd name="adj1" fmla="val 77043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22" idx="3"/>
              <a:endCxn id="11" idx="1"/>
            </p:cNvCxnSpPr>
            <p:nvPr/>
          </p:nvCxnSpPr>
          <p:spPr>
            <a:xfrm flipV="1">
              <a:off x="6642" y="5076"/>
              <a:ext cx="3965" cy="5"/>
            </a:xfrm>
            <a:prstGeom prst="bentConnector3">
              <a:avLst>
                <a:gd name="adj1" fmla="val 50013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肘形连接符 52"/>
            <p:cNvCxnSpPr>
              <a:stCxn id="22" idx="3"/>
              <a:endCxn id="12" idx="1"/>
            </p:cNvCxnSpPr>
            <p:nvPr/>
          </p:nvCxnSpPr>
          <p:spPr>
            <a:xfrm>
              <a:off x="6642" y="5081"/>
              <a:ext cx="3965" cy="1982"/>
            </a:xfrm>
            <a:prstGeom prst="bentConnector3">
              <a:avLst>
                <a:gd name="adj1" fmla="val 78284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5" name="圆角矩形 54"/>
            <p:cNvSpPr/>
            <p:nvPr/>
          </p:nvSpPr>
          <p:spPr>
            <a:xfrm>
              <a:off x="14876" y="2384"/>
              <a:ext cx="3685" cy="1318"/>
            </a:xfrm>
            <a:prstGeom prst="roundRect">
              <a:avLst>
                <a:gd name="adj" fmla="val 30197"/>
              </a:avLst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FIS Rule Base for Availability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14876" y="4368"/>
              <a:ext cx="3685" cy="1318"/>
            </a:xfrm>
            <a:prstGeom prst="roundRect">
              <a:avLst>
                <a:gd name="adj" fmla="val 30197"/>
              </a:avLst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FIS Rule Base for Frequency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14876" y="6355"/>
              <a:ext cx="3685" cy="1318"/>
            </a:xfrm>
            <a:prstGeom prst="roundRect">
              <a:avLst>
                <a:gd name="adj" fmla="val 30197"/>
              </a:avLst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FIS Rule Base for Order Category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59" name="右箭头 58"/>
            <p:cNvSpPr/>
            <p:nvPr/>
          </p:nvSpPr>
          <p:spPr>
            <a:xfrm>
              <a:off x="3038" y="4619"/>
              <a:ext cx="892" cy="706"/>
            </a:xfrm>
            <a:prstGeom prst="rightArrow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0" name="右箭头 59"/>
            <p:cNvSpPr/>
            <p:nvPr/>
          </p:nvSpPr>
          <p:spPr>
            <a:xfrm>
              <a:off x="13498" y="4643"/>
              <a:ext cx="892" cy="706"/>
            </a:xfrm>
            <a:prstGeom prst="rightArrow">
              <a:avLst/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61" name="肘形连接符 60"/>
            <p:cNvCxnSpPr>
              <a:stCxn id="26" idx="3"/>
              <a:endCxn id="45" idx="1"/>
            </p:cNvCxnSpPr>
            <p:nvPr/>
          </p:nvCxnSpPr>
          <p:spPr>
            <a:xfrm flipV="1">
              <a:off x="2906" y="9963"/>
              <a:ext cx="727" cy="3"/>
            </a:xfrm>
            <a:prstGeom prst="bentConnector3">
              <a:avLst>
                <a:gd name="adj1" fmla="val 50069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2" name="圆角矩形 61"/>
            <p:cNvSpPr/>
            <p:nvPr/>
          </p:nvSpPr>
          <p:spPr>
            <a:xfrm>
              <a:off x="14876" y="9307"/>
              <a:ext cx="3685" cy="1318"/>
            </a:xfrm>
            <a:prstGeom prst="roundRect">
              <a:avLst>
                <a:gd name="adj" fmla="val 30197"/>
              </a:avLst>
            </a:prstGeom>
            <a:solidFill>
              <a:srgbClr val="4E7F7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Synthetic Order Instance</a:t>
              </a:r>
              <a:endPara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63" name="肘形连接符 62"/>
            <p:cNvCxnSpPr>
              <a:stCxn id="36" idx="3"/>
              <a:endCxn id="62" idx="1"/>
            </p:cNvCxnSpPr>
            <p:nvPr/>
          </p:nvCxnSpPr>
          <p:spPr>
            <a:xfrm>
              <a:off x="14054" y="9964"/>
              <a:ext cx="822" cy="2"/>
            </a:xfrm>
            <a:prstGeom prst="bentConnector3">
              <a:avLst>
                <a:gd name="adj1" fmla="val 50000"/>
              </a:avLst>
            </a:prstGeom>
            <a:solidFill>
              <a:srgbClr val="4E7F74"/>
            </a:solidFill>
            <a:ln w="34925">
              <a:solidFill>
                <a:srgbClr val="375E69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文本框 63"/>
            <p:cNvSpPr txBox="1"/>
            <p:nvPr/>
          </p:nvSpPr>
          <p:spPr>
            <a:xfrm>
              <a:off x="5860" y="10435"/>
              <a:ext cx="241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Bernoulli MC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8517" y="10572"/>
              <a:ext cx="2414" cy="4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Poisson MC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1326" y="10589"/>
              <a:ext cx="3648" cy="4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Discrete Ramdom MC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-1211" y="8078"/>
              <a:ext cx="20272" cy="0"/>
            </a:xfrm>
            <a:prstGeom prst="line">
              <a:avLst/>
            </a:prstGeom>
            <a:ln w="31750" cmpd="sng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38450" y="1295400"/>
            <a:ext cx="1489075" cy="774700"/>
          </a:xfrm>
          <a:prstGeom prst="rect">
            <a:avLst/>
          </a:prstGeom>
          <a:solidFill>
            <a:srgbClr val="4E7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ym typeface="+mn-ea"/>
              </a:rPr>
              <a:t>#4d8075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97195" y="1295400"/>
            <a:ext cx="1489075" cy="774700"/>
          </a:xfrm>
          <a:prstGeom prst="rect">
            <a:avLst/>
          </a:prstGeom>
          <a:solidFill>
            <a:srgbClr val="2D00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bg1"/>
                </a:solidFill>
              </a:rPr>
              <a:t>#0000cd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66355" y="1299845"/>
            <a:ext cx="1489075" cy="774700"/>
          </a:xfrm>
          <a:prstGeom prst="rect">
            <a:avLst/>
          </a:prstGeom>
          <a:solidFill>
            <a:srgbClr val="375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bg1"/>
                </a:solidFill>
              </a:rPr>
              <a:t>#335f69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68905" y="3860800"/>
            <a:ext cx="1489075" cy="774700"/>
          </a:xfrm>
          <a:prstGeom prst="rect">
            <a:avLst/>
          </a:prstGeom>
          <a:solidFill>
            <a:srgbClr val="4E77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#487ba7</a:t>
            </a:r>
            <a:endParaRPr lang="en-US" altLang="zh-CN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914265" y="3948430"/>
            <a:ext cx="1910080" cy="599440"/>
          </a:xfrm>
          <a:prstGeom prst="roundRect">
            <a:avLst>
              <a:gd name="adj" fmla="val 30197"/>
            </a:avLst>
          </a:prstGeom>
          <a:solidFill>
            <a:srgbClr val="76619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#9069a0</a:t>
            </a:r>
            <a:endParaRPr lang="en-US" altLang="zh-CN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2145</Words>
  <Application>WPS 演示</Application>
  <PresentationFormat>Widescreen</PresentationFormat>
  <Paragraphs>229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Yixuan Li</dc:creator>
  <cp:lastModifiedBy>Yixuan</cp:lastModifiedBy>
  <cp:revision>13</cp:revision>
  <dcterms:created xsi:type="dcterms:W3CDTF">2023-08-09T12:44:00Z</dcterms:created>
  <dcterms:modified xsi:type="dcterms:W3CDTF">2025-08-28T22:01:08Z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6C69D4CA85A046BFB562138A1A742594_12</vt:lpwstr>
  </property>
</Properties>
</file>